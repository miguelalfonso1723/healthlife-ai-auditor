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Random
Forest</c:v>
                </c:pt>
                <c:pt idx="1">
                  <c:v>LogReg
TF-IDF</c:v>
                </c:pt>
                <c:pt idx="2">
                  <c:v>SVM
TF-IDF</c:v>
                </c:pt>
                <c:pt idx="3">
                  <c:v>ST +
LogReg</c:v>
                </c:pt>
                <c:pt idx="4">
                  <c:v>ST +
SVM</c:v>
                </c:pt>
                <c:pt idx="5">
                  <c:v>MLP
híbrida</c:v>
                </c:pt>
                <c:pt idx="6">
                  <c:v>CNN
1D</c:v>
                </c:pt>
                <c:pt idx="7">
                  <c:v>LightGBM
híbrido</c:v>
                </c:pt>
                <c:pt idx="8">
                  <c:v>XGBoost
híbrido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0.9153</c:v>
                </c:pt>
                <c:pt idx="1">
                  <c:v>0.42170000000000002</c:v>
                </c:pt>
                <c:pt idx="2">
                  <c:v>0.87380000000000002</c:v>
                </c:pt>
                <c:pt idx="3">
                  <c:v>0.48880000000000001</c:v>
                </c:pt>
                <c:pt idx="4">
                  <c:v>0.89139999999999997</c:v>
                </c:pt>
                <c:pt idx="5">
                  <c:v>0.74439999999999995</c:v>
                </c:pt>
                <c:pt idx="6">
                  <c:v>0.6038</c:v>
                </c:pt>
                <c:pt idx="7">
                  <c:v>0.92010000000000003</c:v>
                </c:pt>
                <c:pt idx="8">
                  <c:v>0.76519999999999999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C4-4E7B-8A2D-7F79B6E701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de inconsistencias</c:v>
                </c:pt>
              </c:strCache>
            </c:strRef>
          </c:tx>
          <c:spPr>
            <a:solidFill>
              <a:srgbClr val="E3B23C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Random
Forest</c:v>
                </c:pt>
                <c:pt idx="1">
                  <c:v>LogReg
TF-IDF</c:v>
                </c:pt>
                <c:pt idx="2">
                  <c:v>SVM
TF-IDF</c:v>
                </c:pt>
                <c:pt idx="3">
                  <c:v>ST +
LogReg</c:v>
                </c:pt>
                <c:pt idx="4">
                  <c:v>ST +
SVM</c:v>
                </c:pt>
                <c:pt idx="5">
                  <c:v>MLP
híbrida</c:v>
                </c:pt>
                <c:pt idx="6">
                  <c:v>CNN
1D</c:v>
                </c:pt>
                <c:pt idx="7">
                  <c:v>LightGBM
híbrido</c:v>
                </c:pt>
                <c:pt idx="8">
                  <c:v>XGBoost
híbrido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0.62309999999999999</c:v>
                </c:pt>
                <c:pt idx="1">
                  <c:v>0.9</c:v>
                </c:pt>
                <c:pt idx="2">
                  <c:v>0.46920000000000001</c:v>
                </c:pt>
                <c:pt idx="3">
                  <c:v>0.86919999999999997</c:v>
                </c:pt>
                <c:pt idx="4">
                  <c:v>0.49230000000000002</c:v>
                </c:pt>
                <c:pt idx="5">
                  <c:v>0.71540000000000004</c:v>
                </c:pt>
                <c:pt idx="6">
                  <c:v>0.77690000000000003</c:v>
                </c:pt>
                <c:pt idx="7">
                  <c:v>0.6462</c:v>
                </c:pt>
                <c:pt idx="8">
                  <c:v>0.73850000000000005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C4-4E7B-8A2D-7F79B6E70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11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899770" y="594359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5" name="Image 0" descr="img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80" y="671169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713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LIFE IPS SAS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 Médico Digital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automatizada de Historias Clínicas y Pre-facturación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Inteligencia Artificial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Predictors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108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2025  ·  4 de agosto de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inconsistencias se detectan demasiado tarde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Life IPS SAS identifica discrepancias entre la Historia Clínica y la Pre-facturación únicamente durante la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factura ya fue emitida.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mg/icon_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31235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0449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Glosas y rechazos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33192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facturación por inconsistencias no detectadas a tiempo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mg/icon_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408371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0050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Reprocesos administrativos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4279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consumen horas de auditoría manual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mg/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5043830"/>
            <a:ext cx="382219" cy="3822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96519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ingresos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52395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procedimientos no facturados correctamente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7220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EF3FC"/>
          </a:solidFill>
          <a:ln/>
        </p:spPr>
      </p:sp>
      <p:sp>
        <p:nvSpPr>
          <p:cNvPr id="18" name="Text 13"/>
          <p:cNvSpPr/>
          <p:nvPr/>
        </p:nvSpPr>
        <p:spPr>
          <a:xfrm>
            <a:off x="649224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Life IPS SAS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92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9494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922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94944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Pre-facturación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922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94944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factura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922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949440" y="3767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médica posterior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92240" y="42519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 donde hoy se detectan las inconsistencias: demasiado tarde para evitar la glosa.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híbrido de auditoría preventiva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reglas de negocio determinísticas con un modelo de Inteligencia Artificial para detectar inconsistencias antes de que la factura se emita.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788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mg/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86024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Reglas de Negocio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828800" y="36118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NO_FACTURADO y CODIGO_NO_COINCIDE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4233672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828800" y="423367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sin soporte clínico o sin detalle HC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485546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828800" y="48554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coherencia diagnóstico–procedimiento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246888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2788920"/>
            <a:ext cx="594360" cy="59436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17" name="Image 1" descr="img/icon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2860243"/>
            <a:ext cx="451714" cy="4517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Inteligencia Artificial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92240" y="36118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arquitecturas de Machine Learning y Deep Learning entrenadas y comparadas de forma sistemática bajo un pipeline oficial y reproducible.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4526280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46177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Ganador: XGBoost Hybrid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675120" y="49194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+ SentenceTransformer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000" dirty="0"/>
          </a:p>
        </p:txBody>
      </p:sp>
      <p:pic>
        <p:nvPicPr>
          <p:cNvPr id="4" name="Image 0" descr="img/pdfimg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627632"/>
            <a:ext cx="4462272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fuentes integradas en un Master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01_pacientes.csv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17830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datos demográficos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603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02_atenciones.csv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25603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reg.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56032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cada atención médica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375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03_historia_clinica_detalle.csv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34840" y="333756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3,056 reg.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333756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Procedimientos, consultas, tratamientos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1480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04_prefactura.csv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41148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2,974 reg.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411480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valores pre-facturados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920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05_cruce_validacion.csv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34840" y="48920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3,126 reg.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48920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histórico de validación (ground truth)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9560" y="178308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2103120"/>
            <a:ext cx="548640" cy="54864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26" name="Image 0" descr="img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437" y="2168957"/>
            <a:ext cx="416966" cy="41696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9095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Dataset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90956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3,126</a:t>
            </a:r>
            <a:endParaRPr lang="en-US" sz="4200" dirty="0"/>
          </a:p>
        </p:txBody>
      </p:sp>
      <p:sp>
        <p:nvSpPr>
          <p:cNvPr id="29" name="Text 26"/>
          <p:cNvSpPr/>
          <p:nvPr/>
        </p:nvSpPr>
        <p:spPr>
          <a:xfrm>
            <a:off x="79095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90956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55  columnas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229600" y="4892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Unidas por id_paciente e id_atencion, replicando el flujo real de la operación.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datos: base sólida desde el inicio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 global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4652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duplicadas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8116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perdidos en la integración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únicos valores nulos (id_prefactura, id_detalle_hc) son intencionales: representan lógica de </a:t>
            </a:r>
            <a:r>
              <a:rPr lang="en-US" sz="135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real, ausencia de prefactura o de </a:t>
            </a:r>
            <a:r>
              <a:rPr lang="en-US" sz="135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errores de captura.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2B357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120640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19" name="Image 0" descr="img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5180990"/>
            <a:ext cx="382219" cy="38221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00200" y="5074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identificado desde esta fase: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600200" y="534924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de clases — 79.24% CONSISTENTE vs. 20.76% INCONSISTENTE — que se materializaría luego en el modelado.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ASUM-DM: un proceso iterativo, de punta a punta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75484" y="2583180"/>
            <a:ext cx="100584" cy="0"/>
          </a:xfrm>
          <a:prstGeom prst="line">
            <a:avLst/>
          </a:prstGeom>
          <a:noFill/>
          <a:ln w="19050">
            <a:solidFill>
              <a:srgbClr val="C9CFD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61153" y="226314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1153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05190" y="3040380"/>
            <a:ext cx="13520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05190" y="3680460"/>
            <a:ext cx="1352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64649" y="2583180"/>
            <a:ext cx="100584" cy="0"/>
          </a:xfrm>
          <a:prstGeom prst="line">
            <a:avLst/>
          </a:prstGeom>
          <a:noFill/>
          <a:ln w="19050">
            <a:solidFill>
              <a:srgbClr val="C9CFD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50319" y="226314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0319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94356" y="3040380"/>
            <a:ext cx="13520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94356" y="3680460"/>
            <a:ext cx="1352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53815" y="2583180"/>
            <a:ext cx="100584" cy="0"/>
          </a:xfrm>
          <a:prstGeom prst="line">
            <a:avLst/>
          </a:prstGeom>
          <a:noFill/>
          <a:ln w="19050">
            <a:solidFill>
              <a:srgbClr val="C9CFD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39484" y="226314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9484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3521" y="3040380"/>
            <a:ext cx="13520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3521" y="3680460"/>
            <a:ext cx="1352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42981" y="2583180"/>
            <a:ext cx="100584" cy="0"/>
          </a:xfrm>
          <a:prstGeom prst="line">
            <a:avLst/>
          </a:prstGeom>
          <a:noFill/>
          <a:ln w="19050">
            <a:solidFill>
              <a:srgbClr val="C9CFD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228650" y="226314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8650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72687" y="3040380"/>
            <a:ext cx="13520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72687" y="3680460"/>
            <a:ext cx="1352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32147" y="2583180"/>
            <a:ext cx="100584" cy="0"/>
          </a:xfrm>
          <a:prstGeom prst="line">
            <a:avLst/>
          </a:prstGeom>
          <a:noFill/>
          <a:ln w="19050">
            <a:solidFill>
              <a:srgbClr val="C9CFD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717816" y="226314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7816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61853" y="3040380"/>
            <a:ext cx="13520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1853" y="3680460"/>
            <a:ext cx="1352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206981" y="226314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06981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51019" y="3040380"/>
            <a:ext cx="13520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51019" y="3680460"/>
            <a:ext cx="1352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4937760"/>
            <a:ext cx="1042416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07492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naturaleza iterativa: cada fase retroalimenta a las anteriores conforme se profundiza en el conocimiento de los datos y del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Nueve arquitecturas, comparadas bajo un mismo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train_and_evaluate.py  ·  requirements.txt reproducible  ·  13/13 tests automatizados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957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clásicos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96112" y="302666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770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calibrado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37398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8386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44531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1842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TF-IDF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3957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híbridos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53712" y="302666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767833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 + Logistic Regression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53712" y="37398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348386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 + SVM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3712" y="44531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713732" y="419252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híbrida (tabular + SentenceTransformer)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219456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3957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&amp; Deep Learning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11312" y="3026664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279577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1D textual real (TextVectorization + Embedding + Conv1D)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1312" y="3739896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35021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híbrido (tabular + texto embebido)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11312" y="4453128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8" name="Text 26"/>
          <p:cNvSpPr/>
          <p:nvPr/>
        </p:nvSpPr>
        <p:spPr>
          <a:xfrm>
            <a:off x="8394192" y="423824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híbrido (tabular + texto embebido)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resultados: 9 modelos evaluados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Recall de inconsistencias — la métrica que más importa al negocio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2057400"/>
          <a:ext cx="111556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3" name="Image 0" descr="img/icon_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61996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SELECCIONADO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732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Hybrid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41732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+ SentenceTransformer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0.7652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0.7585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61188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0.7347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44652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41B47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0.7385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928116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inconsistencias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343400"/>
            <a:ext cx="10424160" cy="1691640"/>
          </a:xfrm>
          <a:prstGeom prst="roundRect">
            <a:avLst>
              <a:gd name="adj" fmla="val 5405"/>
            </a:avLst>
          </a:prstGeom>
          <a:solidFill>
            <a:srgbClr val="2B357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Score  ·  0.7408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4793136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compuesta que combina Accuracy, Balanced Accuracy, Macro-F1 y Recall de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evitar seleccionar un modelo que solo optimiza la accuracy global, ignorando el desbalance de clases del problema.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SELECCIÓN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XGBoost y no LightGBM?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Hybrid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2697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inconsistencias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3886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0.6462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accuracy y macro-F1, pero detecta menos inconsistencias reales.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78440" y="2039112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15" name="Image 0" descr="img/icon_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90" y="2099462"/>
            <a:ext cx="382219" cy="3822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92240" y="20574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Hybrid  ·  Seleccionado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509760" y="2697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0.7652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922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50976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0.7347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inconsistencias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509760" y="3886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92240" y="46177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accuracy global, pero detecta más inconsistencias </a:t>
            </a:r>
            <a:r>
              <a:rPr lang="en-US" sz="12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negocio.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5989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pasar una inconsistencia real es más costoso para la auditoría que revisar una alerta que resulta ser un falso positivo.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 — XGBoost Hybrid</a:t>
            </a:r>
            <a:endParaRPr lang="en-US" sz="3000" dirty="0"/>
          </a:p>
        </p:txBody>
      </p:sp>
      <p:pic>
        <p:nvPicPr>
          <p:cNvPr id="4" name="Image 0" descr="img/pdfimg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371600"/>
            <a:ext cx="658368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3" name="Image 0" descr="img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66568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179222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525181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integraron cinco fuentes de datos heterogéneas en un Master Dataset único, consistente y con integridad referencial completa.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2542032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274989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construyó un sistema híbrido: Motor de Reglas de Negocio (BR-01, BR-02, BR-03) + modelo de IA.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3291840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024797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compararon 9 arquitecturas bajo un pipeline oficial y reproducible de entrenamiento.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4041648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774605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seleccionó XGBoost Hybrid por su mejor equilibrio entre accuracy y recall de inconsistencias clínicas.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4791456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524413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reduce el trabajo manual del auditor, priorizando su esfuerzo en los casos de mayor riesgo.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554126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274221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una base técnica sólida y ejecutable: requirements.txt, pipeline oficial y suite de pruebas automatizadas.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HealthLife AI Auditor  ·  Health &amp; Life IPS SAS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3" name="Image 0" descr="img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66568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PREDICTORS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47"/>
          </a:solidFill>
          <a:ln/>
        </p:spPr>
      </p:sp>
      <p:sp>
        <p:nvSpPr>
          <p:cNvPr id="6" name="Shape 3"/>
          <p:cNvSpPr/>
          <p:nvPr/>
        </p:nvSpPr>
        <p:spPr>
          <a:xfrm>
            <a:off x="1280160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12801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García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general, comprensión del negocio y documentación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98064" y="169164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47"/>
          </a:solidFill>
          <a:ln/>
        </p:spPr>
      </p:sp>
      <p:sp>
        <p:nvSpPr>
          <p:cNvPr id="11" name="Shape 8"/>
          <p:cNvSpPr/>
          <p:nvPr/>
        </p:nvSpPr>
        <p:spPr>
          <a:xfrm>
            <a:off x="3438144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3438144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889504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Alfonso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35224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datos, relaciones y calidad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56048" y="169164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47"/>
          </a:solidFill>
          <a:ln/>
        </p:spPr>
      </p:sp>
      <p:sp>
        <p:nvSpPr>
          <p:cNvPr id="16" name="Shape 13"/>
          <p:cNvSpPr/>
          <p:nvPr/>
        </p:nvSpPr>
        <p:spPr>
          <a:xfrm>
            <a:off x="5596128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4"/>
          <p:cNvSpPr/>
          <p:nvPr/>
        </p:nvSpPr>
        <p:spPr>
          <a:xfrm>
            <a:off x="5596128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YB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47488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Yineth Botina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93208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datos, limpieza e integración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114032" y="169164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47"/>
          </a:solidFill>
          <a:ln/>
        </p:spPr>
      </p:sp>
      <p:sp>
        <p:nvSpPr>
          <p:cNvPr id="21" name="Shape 18"/>
          <p:cNvSpPr/>
          <p:nvPr/>
        </p:nvSpPr>
        <p:spPr>
          <a:xfrm>
            <a:off x="7754112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19"/>
          <p:cNvSpPr/>
          <p:nvPr/>
        </p:nvSpPr>
        <p:spPr>
          <a:xfrm>
            <a:off x="7754112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205472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Bejarano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51192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desarrollo del modelo predictivo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272016" y="169164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47"/>
          </a:solidFill>
          <a:ln/>
        </p:spPr>
      </p:sp>
      <p:sp>
        <p:nvSpPr>
          <p:cNvPr id="26" name="Shape 23"/>
          <p:cNvSpPr/>
          <p:nvPr/>
        </p:nvSpPr>
        <p:spPr>
          <a:xfrm>
            <a:off x="9912096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9912096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363456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Smith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409176" y="3246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modelo, tablero de indicadores y alertas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" y="4892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40080" y="5486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2025  ·  Health &amp; Life IPS SAS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1043</Words>
  <Application>Microsoft Office PowerPoint</Application>
  <PresentationFormat>Panorámica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Yineth Botina</cp:lastModifiedBy>
  <cp:revision>2</cp:revision>
  <dcterms:created xsi:type="dcterms:W3CDTF">2026-08-05T04:00:03Z</dcterms:created>
  <dcterms:modified xsi:type="dcterms:W3CDTF">2026-08-05T04:10:37Z</dcterms:modified>
</cp:coreProperties>
</file>